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88825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5C6BB9-9CDC-4413-91EF-BD6E48D1117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A7D4B0-AA4D-4C5E-B069-3E2D56C695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49523F-E9DC-4D46-820C-73844C4C7F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8A395A7-EAED-4E54-80FB-B8F29F235E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3D089A6-9358-4FD2-9A45-74919633B1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B8F4728-7277-4E66-9CF5-ABE9BCACD6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0DEEA83-9E5F-4831-B27C-D4B9BB017E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97666EA-02DD-4516-B80C-FF8D8E8C14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0CB9559-6DE5-4296-97CB-7C86F6C301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E45D941-AFF3-4EBA-94DE-FC67C87862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1ACB32C-523B-403F-AD44-F5AB5DC98C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93526A2-4FC3-4124-A344-A8EB5FC7A4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FE74146-3350-4A8D-A013-EA0B5B880F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732E9A-B309-4FA4-9B3D-626F35420A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F41169-40DE-471E-8A9E-B45630D82B6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ACB594-7951-4F0A-ABE2-2FAF44B993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0DA22C2-85E1-453E-818A-45DF92BE62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EFD02F2-5DCE-40D9-A1A5-02A58329C6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A30280-8C12-47E4-B9AF-44037F4AF0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4838AE-D625-4B90-9963-6B49DE22E2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82A09B-25F1-4424-A41D-461C778776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D34E97-AFE9-4A8B-9E6F-020033032A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5212080"/>
            <a:ext cx="12188160" cy="6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TextBox 3"/>
          <p:cNvSpPr/>
          <p:nvPr/>
        </p:nvSpPr>
        <p:spPr>
          <a:xfrm>
            <a:off x="731520" y="1005840"/>
            <a:ext cx="1072512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Roboto"/>
              </a:rPr>
              <a:t>How Patch Journalists Can Use ChatGPT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4200" spc="-1" strike="noStrike">
                <a:solidFill>
                  <a:srgbClr val="ffffff"/>
                </a:solidFill>
                <a:latin typeface="Roboto"/>
              </a:rPr>
              <a:t>To Turn Town Meetings Into News Stories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1097280" y="3749040"/>
            <a:ext cx="9993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1800" spc="-1" strike="noStrike">
                <a:solidFill>
                  <a:srgbClr val="ffffff"/>
                </a:solidFill>
                <a:latin typeface="Merriweather"/>
              </a:rPr>
              <a:t>A practical step-by-step workflow for covering local government meetings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ffffff"/>
                </a:solidFill>
                <a:latin typeface="Merriweather"/>
              </a:rPr>
              <a:t>using ChatGPT, transcription tools, and Associated Press-style prompts.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Picture 5" descr="patch_logo_cropped.jpg"/>
          <p:cNvPicPr/>
          <p:nvPr/>
        </p:nvPicPr>
        <p:blipFill>
          <a:blip r:embed="rId1"/>
          <a:stretch/>
        </p:blipFill>
        <p:spPr>
          <a:xfrm>
            <a:off x="4265640" y="5166360"/>
            <a:ext cx="3656880" cy="138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What Kind of Meetings Are We Talking About?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8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59" name="TextBox 5"/>
          <p:cNvSpPr/>
          <p:nvPr/>
        </p:nvSpPr>
        <p:spPr>
          <a:xfrm>
            <a:off x="457200" y="1353240"/>
            <a:ext cx="1127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Merriweather"/>
              </a:rPr>
              <a:t>The resident volunteers on these boards and commissions meet regularly to hash out matters that often keenly affect your readership: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822960" y="2194560"/>
            <a:ext cx="1078920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Boards of Selectmen / Town Council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Planning &amp; Zoning Commission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Board of Finance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Board of Education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Inland Wetlands Commission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Zoning Board of Appeals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…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and many other local committees and commissions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Why Write About Municipal Meetings?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Rectangle 5"/>
          <p:cNvSpPr/>
          <p:nvPr/>
        </p:nvSpPr>
        <p:spPr>
          <a:xfrm>
            <a:off x="365760" y="1325880"/>
            <a:ext cx="5439960" cy="52570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548640" y="1417320"/>
            <a:ext cx="5074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4c05"/>
                </a:solidFill>
                <a:latin typeface="Roboto"/>
              </a:rPr>
              <a:t>The Challenge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548640" y="1965960"/>
            <a:ext cx="50742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Municipal meetings have not exactly proven to be pageview magnets — they require time, expertise, and consistent attendance to cover well.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6382440" y="1325880"/>
            <a:ext cx="5485680" cy="525708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6565320" y="1417320"/>
            <a:ext cx="5119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Roboto"/>
              </a:rPr>
              <a:t>The Opportunity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565320" y="2011680"/>
            <a:ext cx="51199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Establish Patch as the local government authority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SEO → GEO: LLMs reward perceived authority with superior link placement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Create exclusive content no one else is reporting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500" spc="-1" strike="noStrike">
                <a:solidFill>
                  <a:srgbClr val="ffffff"/>
                </a:solidFill>
                <a:latin typeface="Merriweather"/>
              </a:rPr>
              <a:t>AI makes deep local reporting possible for busy editors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SEO Is Becoming GEO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3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457200" y="1371600"/>
            <a:ext cx="11273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4c05"/>
                </a:solidFill>
                <a:latin typeface="Roboto"/>
              </a:rPr>
              <a:t>Generative Engine Optimization (GEO) is the new frontier for local news visibility.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457200" y="2057400"/>
            <a:ext cx="11273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Merriweather"/>
              </a:rPr>
              <a:t>As AI search (Google AI Overviews, ChatGPT, Perplexity) replaces traditional results, LLMs reward the perceived authority of a news outlet with superior — if not exclusive — link placement in their responses.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457200" y="3566160"/>
            <a:ext cx="11273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a1a1a"/>
                </a:solidFill>
                <a:latin typeface="Merriweather"/>
              </a:rPr>
              <a:t>To earn that authority: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822960" y="4069080"/>
            <a:ext cx="1097208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Provide important local news that competitors overlook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Cover local government meetings consistently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Publish on a regular, predictable basis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457200" y="5669280"/>
            <a:ext cx="11273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800" spc="-1" strike="noStrike">
                <a:solidFill>
                  <a:srgbClr val="004c05"/>
                </a:solidFill>
                <a:latin typeface="Merriweather"/>
              </a:rPr>
              <a:t>AI makes all of this achievable — even for editors managing multiple Patches.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0" y="0"/>
            <a:ext cx="12188160" cy="90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0" y="6766560"/>
            <a:ext cx="12188160" cy="90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2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83" name="TextBox 5"/>
          <p:cNvSpPr/>
          <p:nvPr/>
        </p:nvSpPr>
        <p:spPr>
          <a:xfrm>
            <a:off x="457200" y="640080"/>
            <a:ext cx="11273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WORKFLOW 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457200" y="1234440"/>
            <a:ext cx="11273760" cy="8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000" spc="-1" strike="noStrike">
                <a:solidFill>
                  <a:srgbClr val="004c05"/>
                </a:solidFill>
                <a:latin typeface="Roboto"/>
              </a:rPr>
              <a:t>Meeting Minutes  →  News Article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502920" y="3474720"/>
            <a:ext cx="1718280" cy="19195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502920" y="3493080"/>
            <a:ext cx="1718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Roboto"/>
              </a:rPr>
              <a:t>1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576000" y="4224600"/>
            <a:ext cx="1572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Get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Minutes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2240280" y="3977640"/>
            <a:ext cx="25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11"/>
          <p:cNvSpPr/>
          <p:nvPr/>
        </p:nvSpPr>
        <p:spPr>
          <a:xfrm>
            <a:off x="2477880" y="3474720"/>
            <a:ext cx="1718280" cy="19195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2477880" y="3493080"/>
            <a:ext cx="1718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Roboto"/>
              </a:rPr>
              <a:t>2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2551320" y="4224600"/>
            <a:ext cx="1572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Open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ChatGPT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4215240" y="3977640"/>
            <a:ext cx="25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15"/>
          <p:cNvSpPr/>
          <p:nvPr/>
        </p:nvSpPr>
        <p:spPr>
          <a:xfrm>
            <a:off x="4453200" y="3474720"/>
            <a:ext cx="1718280" cy="19195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6"/>
          <p:cNvSpPr/>
          <p:nvPr/>
        </p:nvSpPr>
        <p:spPr>
          <a:xfrm>
            <a:off x="4453200" y="3493080"/>
            <a:ext cx="1718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Roboto"/>
              </a:rPr>
              <a:t>3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4526280" y="4224600"/>
            <a:ext cx="1572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Paste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Prompt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6190560" y="3977640"/>
            <a:ext cx="25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9"/>
          <p:cNvSpPr/>
          <p:nvPr/>
        </p:nvSpPr>
        <p:spPr>
          <a:xfrm>
            <a:off x="6428160" y="3474720"/>
            <a:ext cx="1718280" cy="19195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6428160" y="3493080"/>
            <a:ext cx="1718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Roboto"/>
              </a:rPr>
              <a:t>4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21"/>
          <p:cNvSpPr/>
          <p:nvPr/>
        </p:nvSpPr>
        <p:spPr>
          <a:xfrm>
            <a:off x="6501240" y="4224600"/>
            <a:ext cx="1572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Attach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Minutes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22"/>
          <p:cNvSpPr/>
          <p:nvPr/>
        </p:nvSpPr>
        <p:spPr>
          <a:xfrm>
            <a:off x="8165520" y="3977640"/>
            <a:ext cx="25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23"/>
          <p:cNvSpPr/>
          <p:nvPr/>
        </p:nvSpPr>
        <p:spPr>
          <a:xfrm>
            <a:off x="8403480" y="3474720"/>
            <a:ext cx="1718280" cy="19195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4"/>
          <p:cNvSpPr/>
          <p:nvPr/>
        </p:nvSpPr>
        <p:spPr>
          <a:xfrm>
            <a:off x="8403480" y="3493080"/>
            <a:ext cx="1718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Roboto"/>
              </a:rPr>
              <a:t>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25"/>
          <p:cNvSpPr/>
          <p:nvPr/>
        </p:nvSpPr>
        <p:spPr>
          <a:xfrm>
            <a:off x="8476560" y="4224600"/>
            <a:ext cx="1572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Review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Draft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6"/>
          <p:cNvSpPr/>
          <p:nvPr/>
        </p:nvSpPr>
        <p:spPr>
          <a:xfrm>
            <a:off x="10140840" y="3977640"/>
            <a:ext cx="255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27"/>
          <p:cNvSpPr/>
          <p:nvPr/>
        </p:nvSpPr>
        <p:spPr>
          <a:xfrm>
            <a:off x="10378440" y="3474720"/>
            <a:ext cx="1718280" cy="19195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8"/>
          <p:cNvSpPr/>
          <p:nvPr/>
        </p:nvSpPr>
        <p:spPr>
          <a:xfrm>
            <a:off x="10378440" y="3493080"/>
            <a:ext cx="1718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Roboto"/>
              </a:rPr>
              <a:t>6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9"/>
          <p:cNvSpPr/>
          <p:nvPr/>
        </p:nvSpPr>
        <p:spPr>
          <a:xfrm>
            <a:off x="10451520" y="4224600"/>
            <a:ext cx="1572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erriweather"/>
              </a:rPr>
              <a:t>Publish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1  |  Steps 1–3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1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5"/>
          <p:cNvSpPr/>
          <p:nvPr/>
        </p:nvSpPr>
        <p:spPr>
          <a:xfrm>
            <a:off x="365760" y="135324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365760" y="135324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1005840" y="137160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Get the Meeting Minutes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1005840" y="1874520"/>
            <a:ext cx="107892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Download or copy the official meeting minutes from the town website. Many towns offer free email subscriptions to receive minutes and agendas (usually as PDFs or MS Word documents).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9"/>
          <p:cNvSpPr/>
          <p:nvPr/>
        </p:nvSpPr>
        <p:spPr>
          <a:xfrm>
            <a:off x="365760" y="283464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10"/>
          <p:cNvSpPr/>
          <p:nvPr/>
        </p:nvSpPr>
        <p:spPr>
          <a:xfrm>
            <a:off x="365760" y="283464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1005840" y="285300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Open ChatGPT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2"/>
          <p:cNvSpPr/>
          <p:nvPr/>
        </p:nvSpPr>
        <p:spPr>
          <a:xfrm>
            <a:off x="1005840" y="335592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Start a new chat in ChatGPT.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13"/>
          <p:cNvSpPr/>
          <p:nvPr/>
        </p:nvSpPr>
        <p:spPr>
          <a:xfrm>
            <a:off x="365760" y="393192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TextBox 14"/>
          <p:cNvSpPr/>
          <p:nvPr/>
        </p:nvSpPr>
        <p:spPr>
          <a:xfrm>
            <a:off x="365760" y="393192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5"/>
          <p:cNvSpPr/>
          <p:nvPr/>
        </p:nvSpPr>
        <p:spPr>
          <a:xfrm>
            <a:off x="1005840" y="395028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Paste the Prompt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6"/>
          <p:cNvSpPr/>
          <p:nvPr/>
        </p:nvSpPr>
        <p:spPr>
          <a:xfrm>
            <a:off x="1005840" y="445320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Copy and paste the AP-style prompt into ChatGPT. See the next slide for the complete prompt text.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1  |  The Prompt  (copy &amp; paste this)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365760" y="1298520"/>
            <a:ext cx="11456640" cy="5284440"/>
          </a:xfrm>
          <a:prstGeom prst="rect">
            <a:avLst/>
          </a:prstGeom>
          <a:solidFill>
            <a:srgbClr val="f0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2727000" y="1417320"/>
            <a:ext cx="6706440" cy="39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Rewrite these [DATE] meeting minutes of the [TOWN], [STATE]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[MUNICIPAL BODY] as a news article in the neutral style of 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Associated Press journalist.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Requirements: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Lead with the most newsworthy actions or votes.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Attribute comments clearly.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Summarize discussion concisely.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Include vote counts when available.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Do not editorialize or speculate.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Write for a hyperlocal readership in [TOWN], [STATE].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Then generate: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An SEO-friendly headline (≤109 characters)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A meta description (≤136 characters)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Meeting minutes: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[PASTE TEXT HERE, or attach the file to this prompt]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1  |  Steps 4–6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2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133" name="Rectangle 5"/>
          <p:cNvSpPr/>
          <p:nvPr/>
        </p:nvSpPr>
        <p:spPr>
          <a:xfrm>
            <a:off x="365760" y="135324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365760" y="135324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1005840" y="137160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Attach or Paste the Minutes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1005840" y="187452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Paste the full text directly into the prompt, or upload the minutes file as an attachment.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 9"/>
          <p:cNvSpPr/>
          <p:nvPr/>
        </p:nvSpPr>
        <p:spPr>
          <a:xfrm>
            <a:off x="365760" y="254196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365760" y="254196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005840" y="256032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Review the Draft Carefully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1005840" y="306324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Paste ChatGPT's work into the Patch CMS. Before publishing: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3"/>
          <p:cNvSpPr/>
          <p:nvPr/>
        </p:nvSpPr>
        <p:spPr>
          <a:xfrm>
            <a:off x="1005840" y="3520440"/>
            <a:ext cx="107892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Verify vote counts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Confirm names and titles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Check quotes against the original minutes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Make sure the lede reflects the most important action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Remove anything that sounds promotional or speculative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14"/>
          <p:cNvSpPr/>
          <p:nvPr/>
        </p:nvSpPr>
        <p:spPr>
          <a:xfrm>
            <a:off x="365760" y="553212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365760" y="553212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6"/>
          <p:cNvSpPr/>
          <p:nvPr/>
        </p:nvSpPr>
        <p:spPr>
          <a:xfrm>
            <a:off x="1005840" y="555048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Publish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7"/>
          <p:cNvSpPr/>
          <p:nvPr/>
        </p:nvSpPr>
        <p:spPr>
          <a:xfrm>
            <a:off x="1005840" y="6035040"/>
            <a:ext cx="107892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Tweak the hed, lede and meta description. Add pull-quotes to make the story yours, and 2–3 recirc links to previous meeting coverage.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Bonus: The Agenda Variation  —  The 2-for-1 Play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9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150" name="TextBox 5"/>
          <p:cNvSpPr/>
          <p:nvPr/>
        </p:nvSpPr>
        <p:spPr>
          <a:xfrm>
            <a:off x="457200" y="1371600"/>
            <a:ext cx="1127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1a1a1a"/>
                </a:solidFill>
                <a:latin typeface="Merriweather"/>
              </a:rPr>
              <a:t>You can often squeeze a forward-looking story from a committee's published agenda — before the meeting even happens.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Rectangle 6"/>
          <p:cNvSpPr/>
          <p:nvPr/>
        </p:nvSpPr>
        <p:spPr>
          <a:xfrm>
            <a:off x="365760" y="2240280"/>
            <a:ext cx="11456640" cy="2788200"/>
          </a:xfrm>
          <a:prstGeom prst="rect">
            <a:avLst/>
          </a:prstGeom>
          <a:solidFill>
            <a:srgbClr val="f0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548640" y="2304360"/>
            <a:ext cx="10972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04c05"/>
                </a:solidFill>
                <a:latin typeface="Roboto"/>
              </a:rPr>
              <a:t>How to modify the prompt: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2727000" y="2788920"/>
            <a:ext cx="6706440" cy="11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1.  Remove all "Requirements" except: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Write for a hyperlocal readership in [TOWN], [STATE].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2.  Change:    these [DATE] meeting minutes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To:              this [DATE] meeting agenda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457200" y="5120640"/>
            <a:ext cx="112737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1a1a1a"/>
                </a:solidFill>
                <a:latin typeface="Merriweather"/>
              </a:rPr>
              <a:t>The AI will create a forward-looking meeting preview. Consider scheduling it to publish the day before or day of the meeting — with an appropriately urgent headline.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ectangle 2"/>
          <p:cNvSpPr/>
          <p:nvPr/>
        </p:nvSpPr>
        <p:spPr>
          <a:xfrm>
            <a:off x="0" y="0"/>
            <a:ext cx="12188160" cy="90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Rectangle 3"/>
          <p:cNvSpPr/>
          <p:nvPr/>
        </p:nvSpPr>
        <p:spPr>
          <a:xfrm>
            <a:off x="0" y="6766560"/>
            <a:ext cx="12188160" cy="90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8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159" name="TextBox 5"/>
          <p:cNvSpPr/>
          <p:nvPr/>
        </p:nvSpPr>
        <p:spPr>
          <a:xfrm>
            <a:off x="457200" y="640080"/>
            <a:ext cx="11273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WORKFLOW 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457200" y="1234440"/>
            <a:ext cx="11273760" cy="7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004c05"/>
                </a:solidFill>
                <a:latin typeface="Roboto"/>
              </a:rPr>
              <a:t>Meeting Transcript  →  News Article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1097280" y="2578680"/>
            <a:ext cx="9993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1a1a1a"/>
                </a:solidFill>
                <a:latin typeface="Merriweather"/>
              </a:rPr>
              <a:t>Use when you have audio or video. Results are invariably superior to working from minutes alone.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ectangle 8"/>
          <p:cNvSpPr/>
          <p:nvPr/>
        </p:nvSpPr>
        <p:spPr>
          <a:xfrm>
            <a:off x="20124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20124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1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26532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Get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Recording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11"/>
          <p:cNvSpPr/>
          <p:nvPr/>
        </p:nvSpPr>
        <p:spPr>
          <a:xfrm>
            <a:off x="1810440" y="3931920"/>
            <a:ext cx="218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 12"/>
          <p:cNvSpPr/>
          <p:nvPr/>
        </p:nvSpPr>
        <p:spPr>
          <a:xfrm>
            <a:off x="201168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13"/>
          <p:cNvSpPr/>
          <p:nvPr/>
        </p:nvSpPr>
        <p:spPr>
          <a:xfrm>
            <a:off x="201168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14"/>
          <p:cNvSpPr/>
          <p:nvPr/>
        </p:nvSpPr>
        <p:spPr>
          <a:xfrm>
            <a:off x="207576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Create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Transcript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5"/>
          <p:cNvSpPr/>
          <p:nvPr/>
        </p:nvSpPr>
        <p:spPr>
          <a:xfrm>
            <a:off x="3620880" y="3931920"/>
            <a:ext cx="218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 16"/>
          <p:cNvSpPr/>
          <p:nvPr/>
        </p:nvSpPr>
        <p:spPr>
          <a:xfrm>
            <a:off x="382212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17"/>
          <p:cNvSpPr/>
          <p:nvPr/>
        </p:nvSpPr>
        <p:spPr>
          <a:xfrm>
            <a:off x="382212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3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18"/>
          <p:cNvSpPr/>
          <p:nvPr/>
        </p:nvSpPr>
        <p:spPr>
          <a:xfrm>
            <a:off x="388620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Export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Transcript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19"/>
          <p:cNvSpPr/>
          <p:nvPr/>
        </p:nvSpPr>
        <p:spPr>
          <a:xfrm>
            <a:off x="5431680" y="3931920"/>
            <a:ext cx="218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20"/>
          <p:cNvSpPr/>
          <p:nvPr/>
        </p:nvSpPr>
        <p:spPr>
          <a:xfrm>
            <a:off x="563256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21"/>
          <p:cNvSpPr/>
          <p:nvPr/>
        </p:nvSpPr>
        <p:spPr>
          <a:xfrm>
            <a:off x="563256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4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22"/>
          <p:cNvSpPr/>
          <p:nvPr/>
        </p:nvSpPr>
        <p:spPr>
          <a:xfrm>
            <a:off x="569664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Open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ChatGPT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23"/>
          <p:cNvSpPr/>
          <p:nvPr/>
        </p:nvSpPr>
        <p:spPr>
          <a:xfrm>
            <a:off x="7242120" y="3931920"/>
            <a:ext cx="218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tangle 24"/>
          <p:cNvSpPr/>
          <p:nvPr/>
        </p:nvSpPr>
        <p:spPr>
          <a:xfrm>
            <a:off x="744336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5"/>
          <p:cNvSpPr/>
          <p:nvPr/>
        </p:nvSpPr>
        <p:spPr>
          <a:xfrm>
            <a:off x="744336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6"/>
          <p:cNvSpPr/>
          <p:nvPr/>
        </p:nvSpPr>
        <p:spPr>
          <a:xfrm>
            <a:off x="750708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Paste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Prompt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27"/>
          <p:cNvSpPr/>
          <p:nvPr/>
        </p:nvSpPr>
        <p:spPr>
          <a:xfrm>
            <a:off x="9052560" y="3931920"/>
            <a:ext cx="218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tangle 28"/>
          <p:cNvSpPr/>
          <p:nvPr/>
        </p:nvSpPr>
        <p:spPr>
          <a:xfrm>
            <a:off x="925380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29"/>
          <p:cNvSpPr/>
          <p:nvPr/>
        </p:nvSpPr>
        <p:spPr>
          <a:xfrm>
            <a:off x="925380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6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30"/>
          <p:cNvSpPr/>
          <p:nvPr/>
        </p:nvSpPr>
        <p:spPr>
          <a:xfrm>
            <a:off x="931788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Fact-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Check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31"/>
          <p:cNvSpPr/>
          <p:nvPr/>
        </p:nvSpPr>
        <p:spPr>
          <a:xfrm>
            <a:off x="10863000" y="3931920"/>
            <a:ext cx="21888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4c05"/>
                </a:solidFill>
                <a:latin typeface="Roboto"/>
              </a:rPr>
              <a:t>›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32"/>
          <p:cNvSpPr/>
          <p:nvPr/>
        </p:nvSpPr>
        <p:spPr>
          <a:xfrm>
            <a:off x="11064240" y="3429000"/>
            <a:ext cx="1590480" cy="196524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33"/>
          <p:cNvSpPr/>
          <p:nvPr/>
        </p:nvSpPr>
        <p:spPr>
          <a:xfrm>
            <a:off x="11064240" y="3447360"/>
            <a:ext cx="15904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7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34"/>
          <p:cNvSpPr/>
          <p:nvPr/>
        </p:nvSpPr>
        <p:spPr>
          <a:xfrm>
            <a:off x="11128320" y="4178880"/>
            <a:ext cx="146232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Add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Merriweather"/>
              </a:rPr>
              <a:t>Context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2  |  Steps 1–2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5"/>
          <p:cNvSpPr/>
          <p:nvPr/>
        </p:nvSpPr>
        <p:spPr>
          <a:xfrm>
            <a:off x="365760" y="135324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365760" y="135324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7"/>
          <p:cNvSpPr/>
          <p:nvPr/>
        </p:nvSpPr>
        <p:spPr>
          <a:xfrm>
            <a:off x="1005840" y="137160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Obtain the Meeting Recording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8"/>
          <p:cNvSpPr/>
          <p:nvPr/>
        </p:nvSpPr>
        <p:spPr>
          <a:xfrm>
            <a:off x="1005840" y="1883520"/>
            <a:ext cx="107892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Look for: livestream recordings, YouTube uploads, Zoom recordings, MP3/MP4 files. Your town may host these on its website or link to third-party providers.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 9"/>
          <p:cNvSpPr/>
          <p:nvPr/>
        </p:nvSpPr>
        <p:spPr>
          <a:xfrm>
            <a:off x="365760" y="278892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365760" y="278892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1"/>
          <p:cNvSpPr/>
          <p:nvPr/>
        </p:nvSpPr>
        <p:spPr>
          <a:xfrm>
            <a:off x="1005840" y="280728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Create a Transcript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 12"/>
          <p:cNvSpPr/>
          <p:nvPr/>
        </p:nvSpPr>
        <p:spPr>
          <a:xfrm>
            <a:off x="1005840" y="3364920"/>
            <a:ext cx="4937040" cy="3016800"/>
          </a:xfrm>
          <a:prstGeom prst="rect">
            <a:avLst/>
          </a:prstGeom>
          <a:solidFill>
            <a:srgbClr val="f0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1143000" y="3438000"/>
            <a:ext cx="46627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04c05"/>
                </a:solidFill>
                <a:latin typeface="Roboto"/>
              </a:rPr>
              <a:t>Option A: Upload Directly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1143000" y="3950280"/>
            <a:ext cx="4662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If you have a standalone audio/video file: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  </a:t>
            </a: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1. Upload to Otter.ai, TurboScribe, or another service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  </a:t>
            </a: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2. Wait for transcription to complete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ectangle 15"/>
          <p:cNvSpPr/>
          <p:nvPr/>
        </p:nvSpPr>
        <p:spPr>
          <a:xfrm>
            <a:off x="6309360" y="3364920"/>
            <a:ext cx="5485680" cy="3016800"/>
          </a:xfrm>
          <a:prstGeom prst="rect">
            <a:avLst/>
          </a:prstGeom>
          <a:solidFill>
            <a:srgbClr val="f0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16"/>
          <p:cNvSpPr/>
          <p:nvPr/>
        </p:nvSpPr>
        <p:spPr>
          <a:xfrm>
            <a:off x="6446520" y="3438000"/>
            <a:ext cx="5211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004c05"/>
                </a:solidFill>
                <a:latin typeface="Roboto"/>
              </a:rPr>
              <a:t>Option B: Record Playback Into Otter.ai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6446520" y="3950280"/>
            <a:ext cx="521136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If the meeting is only on your town's website: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  </a:t>
            </a: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1. Open the meeting on your laptop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  </a:t>
            </a: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2. Open Otter.ai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  </a:t>
            </a: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3. Play the audio aloud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  </a:t>
            </a:r>
            <a:r>
              <a:rPr b="0" lang="en-US" sz="1500" spc="-1" strike="noStrike">
                <a:solidFill>
                  <a:srgbClr val="1a1a1a"/>
                </a:solidFill>
                <a:latin typeface="Merriweather"/>
              </a:rPr>
              <a:t>4. Let Otter.ai transcribe in real time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2  |  Steps 3–5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8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209" name="Rectangle 5"/>
          <p:cNvSpPr/>
          <p:nvPr/>
        </p:nvSpPr>
        <p:spPr>
          <a:xfrm>
            <a:off x="365760" y="135324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365760" y="135324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1005840" y="137160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Export the Transcript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1005840" y="187452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Export as plain text (.txt) — this format works best with ChatGPT.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tangle 9"/>
          <p:cNvSpPr/>
          <p:nvPr/>
        </p:nvSpPr>
        <p:spPr>
          <a:xfrm>
            <a:off x="365760" y="263340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365760" y="263340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1005840" y="265176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Open ChatGPT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1005840" y="315468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Start a new chat.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13"/>
          <p:cNvSpPr/>
          <p:nvPr/>
        </p:nvSpPr>
        <p:spPr>
          <a:xfrm>
            <a:off x="365760" y="370332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14"/>
          <p:cNvSpPr/>
          <p:nvPr/>
        </p:nvSpPr>
        <p:spPr>
          <a:xfrm>
            <a:off x="365760" y="370332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5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5"/>
          <p:cNvSpPr/>
          <p:nvPr/>
        </p:nvSpPr>
        <p:spPr>
          <a:xfrm>
            <a:off x="1005840" y="372168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Upload the Transcript &amp; Paste the Prompt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1005840" y="4224600"/>
            <a:ext cx="1078920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Attach the transcript file to the prompt, then paste the AP-style prompt (full text on next slide). ChatGPT will process both together.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2  |  The Prompt  (copy &amp; paste this)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Rectangle 5"/>
          <p:cNvSpPr/>
          <p:nvPr/>
        </p:nvSpPr>
        <p:spPr>
          <a:xfrm>
            <a:off x="365760" y="1298520"/>
            <a:ext cx="11456640" cy="5284440"/>
          </a:xfrm>
          <a:prstGeom prst="rect">
            <a:avLst/>
          </a:prstGeom>
          <a:solidFill>
            <a:srgbClr val="f0f7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TextBox 6"/>
          <p:cNvSpPr/>
          <p:nvPr/>
        </p:nvSpPr>
        <p:spPr>
          <a:xfrm>
            <a:off x="2459520" y="1417320"/>
            <a:ext cx="7241400" cy="37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Rewrite this transcript of the [DATE] meeting of the [TOWN],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[STATE] [MUNICIPAL BODY] as a news article in the neutral style of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an Associated Press journalist.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Requirements: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Identify speakers by name and title when possible.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Remove filler, repetition and off-topic remarks.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Highlight decisions, disagreements and next steps.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Preserve exact meaning of quotes.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Do not invent attribution.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Write for a hyperlocal readership in [TOWN], [STATE].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Then generate: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1) An SEO-friendly headline (≤109 characters)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    </a:t>
            </a: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2) A meta description (≤136 characters)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006018"/>
                </a:solidFill>
                <a:latin typeface="Courier New"/>
              </a:rPr>
              <a:t>Attach the transcript file to this prompt.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Workflow 2  |  Steps 6–7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9" name="Picture 4" descr="patch_logo_cropped.jpg"/>
          <p:cNvPicPr/>
          <p:nvPr/>
        </p:nvPicPr>
        <p:blipFill>
          <a:blip r:embed="rId1"/>
          <a:stretch/>
        </p:blipFill>
        <p:spPr>
          <a:xfrm>
            <a:off x="10451520" y="6144840"/>
            <a:ext cx="1645200" cy="624600"/>
          </a:xfrm>
          <a:prstGeom prst="rect">
            <a:avLst/>
          </a:prstGeom>
          <a:ln w="0">
            <a:noFill/>
          </a:ln>
        </p:spPr>
      </p:pic>
      <p:sp>
        <p:nvSpPr>
          <p:cNvPr id="230" name="Rectangle 5"/>
          <p:cNvSpPr/>
          <p:nvPr/>
        </p:nvSpPr>
        <p:spPr>
          <a:xfrm>
            <a:off x="365760" y="135324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6"/>
          <p:cNvSpPr/>
          <p:nvPr/>
        </p:nvSpPr>
        <p:spPr>
          <a:xfrm>
            <a:off x="365760" y="135324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1005840" y="137160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Fact-Check the Draft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1005840" y="1874520"/>
            <a:ext cx="107892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1a1a1a"/>
                </a:solidFill>
                <a:latin typeface="Merriweather"/>
              </a:rPr>
              <a:t>Paste ChatGPT's work into the Patch CMS. Always verify: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1005840" y="2331720"/>
            <a:ext cx="548568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Names and titles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Vote counts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Quotes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Timeline of decisions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    ✓  </a:t>
            </a:r>
            <a:r>
              <a:rPr b="0" lang="en-US" sz="1600" spc="-1" strike="noStrike">
                <a:solidFill>
                  <a:srgbClr val="004c05"/>
                </a:solidFill>
                <a:latin typeface="Merriweather"/>
              </a:rPr>
              <a:t>Motions and outcomes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0"/>
          <p:cNvSpPr/>
          <p:nvPr/>
        </p:nvSpPr>
        <p:spPr>
          <a:xfrm>
            <a:off x="1005840" y="4316040"/>
            <a:ext cx="10789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pc="-1" strike="noStrike">
                <a:solidFill>
                  <a:srgbClr val="1a1a1a"/>
                </a:solidFill>
                <a:latin typeface="Merriweather"/>
              </a:rPr>
              <a:t>AI can miss context or confuse speakers during complicated discussions.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 11"/>
          <p:cNvSpPr/>
          <p:nvPr/>
        </p:nvSpPr>
        <p:spPr>
          <a:xfrm>
            <a:off x="365760" y="4846320"/>
            <a:ext cx="502200" cy="50220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365760" y="4846320"/>
            <a:ext cx="5022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Roboto"/>
              </a:rPr>
              <a:t>7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3"/>
          <p:cNvSpPr/>
          <p:nvPr/>
        </p:nvSpPr>
        <p:spPr>
          <a:xfrm>
            <a:off x="1005840" y="4864680"/>
            <a:ext cx="107892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004c05"/>
                </a:solidFill>
                <a:latin typeface="Roboto"/>
              </a:rPr>
              <a:t>Add Context Before Publishing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4"/>
          <p:cNvSpPr/>
          <p:nvPr/>
        </p:nvSpPr>
        <p:spPr>
          <a:xfrm>
            <a:off x="1005840" y="5376600"/>
            <a:ext cx="1078920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Prior meeting history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Budget context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Links to applications or agenda packets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Previous controversies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1a1a1a"/>
                </a:solidFill>
                <a:latin typeface="Merriweather"/>
              </a:rPr>
              <a:t>Public reaction from 'public comment' portions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88160" cy="1233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320040" y="109800"/>
            <a:ext cx="11520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Roboto"/>
              </a:rPr>
              <a:t>Tips for Better Results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Rectangle 3"/>
          <p:cNvSpPr/>
          <p:nvPr/>
        </p:nvSpPr>
        <p:spPr>
          <a:xfrm>
            <a:off x="0" y="6784920"/>
            <a:ext cx="12188160" cy="7236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5"/>
          <p:cNvSpPr/>
          <p:nvPr/>
        </p:nvSpPr>
        <p:spPr>
          <a:xfrm>
            <a:off x="365760" y="1325880"/>
            <a:ext cx="5394240" cy="52570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6"/>
          <p:cNvSpPr/>
          <p:nvPr/>
        </p:nvSpPr>
        <p:spPr>
          <a:xfrm>
            <a:off x="548640" y="1398960"/>
            <a:ext cx="5028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004c05"/>
                </a:solidFill>
                <a:latin typeface="Roboto"/>
              </a:rPr>
              <a:t>Ask for Follow-Up Rewrites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7"/>
          <p:cNvSpPr/>
          <p:nvPr/>
        </p:nvSpPr>
        <p:spPr>
          <a:xfrm>
            <a:off x="548640" y="1965960"/>
            <a:ext cx="502848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  •  </a:t>
            </a: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"Rewrite with a stronger lede"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  •  </a:t>
            </a: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"Shorten this by 200 words"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  •  </a:t>
            </a: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"Focus more on the budget vote"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  •  </a:t>
            </a: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"Organize chronologically"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  •  </a:t>
            </a:r>
            <a:r>
              <a:rPr b="0" lang="en-US" sz="1500" spc="-1" strike="noStrike">
                <a:solidFill>
                  <a:srgbClr val="006018"/>
                </a:solidFill>
                <a:latin typeface="Courier New"/>
              </a:rPr>
              <a:t>"Highlight the major disagreements"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8"/>
          <p:cNvSpPr/>
          <p:nvPr/>
        </p:nvSpPr>
        <p:spPr>
          <a:xfrm>
            <a:off x="6428160" y="1325880"/>
            <a:ext cx="5394240" cy="525708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9"/>
          <p:cNvSpPr/>
          <p:nvPr/>
        </p:nvSpPr>
        <p:spPr>
          <a:xfrm>
            <a:off x="6611040" y="1398960"/>
            <a:ext cx="50284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ffffff"/>
                </a:solidFill>
                <a:latin typeface="Roboto"/>
              </a:rPr>
              <a:t>Upload Supporting Documents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6611040" y="1965960"/>
            <a:ext cx="502848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Context and accuracy improve significantly when you also attach: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6611040" y="2724840"/>
            <a:ext cx="502848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Agendas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Meeting packets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Presentations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Proposed budgets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  •  </a:t>
            </a:r>
            <a:r>
              <a:rPr b="0" lang="en-US" sz="1600" spc="-1" strike="noStrike">
                <a:solidFill>
                  <a:srgbClr val="ffffff"/>
                </a:solidFill>
                <a:latin typeface="Merriweather"/>
              </a:rPr>
              <a:t>Prior meeting minutes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6611040" y="4892040"/>
            <a:ext cx="5028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ffffff"/>
                </a:solidFill>
                <a:latin typeface="Merriweather"/>
              </a:rPr>
              <a:t>Identify each document by name inside your prompt.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457200" y="411480"/>
            <a:ext cx="11273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Roboto"/>
              </a:rPr>
              <a:t>Important Editorial Reminder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822960" y="1261800"/>
            <a:ext cx="105422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i="1" lang="en-US" sz="2200" spc="-1" strike="noStrike">
                <a:solidFill>
                  <a:srgbClr val="ffffff"/>
                </a:solidFill>
                <a:latin typeface="Merriweather"/>
              </a:rPr>
              <a:t>ChatGPT is a reporting assistant — not a replacement for editorial judgment.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 4"/>
          <p:cNvSpPr/>
          <p:nvPr/>
        </p:nvSpPr>
        <p:spPr>
          <a:xfrm>
            <a:off x="1371600" y="2103120"/>
            <a:ext cx="9444960" cy="3519720"/>
          </a:xfrm>
          <a:prstGeom prst="rect">
            <a:avLst/>
          </a:prstGeom>
          <a:solidFill>
            <a:srgbClr val="006b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1828800" y="2240280"/>
            <a:ext cx="9143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Roboto"/>
              </a:rPr>
              <a:t>Always: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1828800" y="2761560"/>
            <a:ext cx="86860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Verify facts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Review quotes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Confirm names and titles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Read the original source material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  ✓  </a:t>
            </a:r>
            <a:r>
              <a:rPr b="0" lang="en-US" sz="1800" spc="-1" strike="noStrike">
                <a:solidFill>
                  <a:srgbClr val="ffffff"/>
                </a:solidFill>
                <a:latin typeface="Merriweather"/>
              </a:rPr>
              <a:t>Apply newsroom standards before publication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7"/>
          <p:cNvSpPr/>
          <p:nvPr/>
        </p:nvSpPr>
        <p:spPr>
          <a:xfrm>
            <a:off x="822960" y="5413320"/>
            <a:ext cx="10542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ffff"/>
                </a:solidFill>
                <a:latin typeface="Merriweather"/>
              </a:rPr>
              <a:t>The final responsibility for accuracy remains with the journalist.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Picture 8" descr="patch_logo_cropped.jpg"/>
          <p:cNvPicPr/>
          <p:nvPr/>
        </p:nvPicPr>
        <p:blipFill>
          <a:blip r:embed="rId1"/>
          <a:stretch/>
        </p:blipFill>
        <p:spPr>
          <a:xfrm>
            <a:off x="4951440" y="5916240"/>
            <a:ext cx="2285280" cy="867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1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rgbClr val="e8f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Rectangle 2"/>
          <p:cNvSpPr/>
          <p:nvPr/>
        </p:nvSpPr>
        <p:spPr>
          <a:xfrm>
            <a:off x="0" y="0"/>
            <a:ext cx="12188160" cy="90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ectangle 3"/>
          <p:cNvSpPr/>
          <p:nvPr/>
        </p:nvSpPr>
        <p:spPr>
          <a:xfrm>
            <a:off x="0" y="6766560"/>
            <a:ext cx="12188160" cy="90720"/>
          </a:xfrm>
          <a:prstGeom prst="rect">
            <a:avLst/>
          </a:prstGeom>
          <a:solidFill>
            <a:srgbClr val="004c0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457200" y="1463040"/>
            <a:ext cx="11273760" cy="88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200" spc="-1" strike="noStrike">
                <a:solidFill>
                  <a:srgbClr val="004c05"/>
                </a:solidFill>
                <a:latin typeface="Roboto"/>
              </a:rPr>
              <a:t>Now Go Cover Those Meetings.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5"/>
          <p:cNvSpPr/>
          <p:nvPr/>
        </p:nvSpPr>
        <p:spPr>
          <a:xfrm>
            <a:off x="1371600" y="3154680"/>
            <a:ext cx="94449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en-US" sz="2000" spc="-1" strike="noStrike">
                <a:solidFill>
                  <a:srgbClr val="1a1a1a"/>
                </a:solidFill>
                <a:latin typeface="Merriweather"/>
              </a:rPr>
              <a:t>Local government journalism matters — and with these tools,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i="1" lang="en-US" sz="2000" spc="-1" strike="noStrike">
                <a:solidFill>
                  <a:srgbClr val="1a1a1a"/>
                </a:solidFill>
                <a:latin typeface="Merriweather"/>
              </a:rPr>
              <a:t>you can do it faster, smarter and more consistently.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Picture 6" descr="patch_logo_cropped.jpg"/>
          <p:cNvPicPr/>
          <p:nvPr/>
        </p:nvPicPr>
        <p:blipFill>
          <a:blip r:embed="rId1"/>
          <a:stretch/>
        </p:blipFill>
        <p:spPr>
          <a:xfrm>
            <a:off x="4265640" y="4572000"/>
            <a:ext cx="3656880" cy="138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2026-05-20T19:25:05Z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
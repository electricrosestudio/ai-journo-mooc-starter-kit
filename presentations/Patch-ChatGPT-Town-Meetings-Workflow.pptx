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889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591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Roboto"/>
              </a:rPr>
              <a:t>How Patch Journalists Can Use ChatGPT
To Turn Town Meetings Into News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Merriweather"/>
              </a:rPr>
              <a:t>A practical step-by-step workflow for covering local government meetings
using ChatGPT, transcription tools, and Associated Press-style prompts.</a:t>
            </a:r>
          </a:p>
        </p:txBody>
      </p:sp>
      <p:pic>
        <p:nvPicPr>
          <p:cNvPr id="6" name="Picture 5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5166360"/>
            <a:ext cx="3657600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What Kind of Meetings Are We Talking About?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5331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Merriweather"/>
              </a:rPr>
              <a:t>The resident volunteers on these boards and commissions meet regularly to hash out matters that often keenly affect your readership: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Boards of Selectmen / Town Council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Planning &amp; Zoning Commission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Board of Finance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Board of Education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Inland Wetlands Commission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Zoning Board of Appeals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…and many other local committees and commissions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Why Write About Municipal Meetings?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25880"/>
            <a:ext cx="5440680" cy="5257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4C05"/>
                </a:solidFill>
                <a:latin typeface="Roboto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Municipal meetings have not exactly proven to be pageview magnets — they require time, expertise, and consistent attendance to cover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325880"/>
            <a:ext cx="5486400" cy="525780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417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Roboto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116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erriweather"/>
              </a:rPr>
              <a:t>  ✓  Establish Patch as the local government authority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Merriweather"/>
              </a:rPr>
              <a:t>  ✓  SEO → GEO: LLMs reward perceived authority with superior link placement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Merriweather"/>
              </a:rPr>
              <a:t>  ✓  Tag stories as "Patch Exclusives"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Merriweather"/>
              </a:rPr>
              <a:t>  ✓  Cover news your competition is overlooking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Merriweather"/>
              </a:rPr>
              <a:t>  ✓  AI makes deep local reporting possible for busy editors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SEO Is Becoming GEO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4C05"/>
                </a:solidFill>
                <a:latin typeface="Roboto"/>
              </a:rPr>
              <a:t>Generative Engine Optimization (GEO) is the new frontier for local news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Merriweather"/>
              </a:rPr>
              <a:t>As AI search (Google AI Overviews, ChatGPT, Perplexity) replaces traditional results, LLMs reward the perceived authority of a news outlet with superior — if not exclusive — link placement in their responses.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erriweather"/>
              </a:rPr>
              <a:t>To earn that authority: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Provide important local news that competitors overlook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Cover local government meetings consistently</a:t>
            </a:r>
          </a:p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  •  Publish on a regular, predictable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4C05"/>
                </a:solidFill>
                <a:latin typeface="Merriweather"/>
              </a:rPr>
              <a:t>AI makes all of this achievable — even for editors managing multiple Patches.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WORKFLOW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04C05"/>
                </a:solidFill>
                <a:latin typeface="Roboto"/>
              </a:rPr>
              <a:t>Meeting Minutes  →  News Article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74720"/>
            <a:ext cx="1719072" cy="19202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93008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4224528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rriweather"/>
              </a:rPr>
              <a:t>Get
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79" y="3977639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8024" y="3474720"/>
            <a:ext cx="1719072" cy="19202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3493008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4224528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rriweather"/>
              </a:rPr>
              <a:t>Open
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3" y="3977639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3474720"/>
            <a:ext cx="1719072" cy="19202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3493008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24528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rriweather"/>
              </a:rPr>
              <a:t>Paste
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977639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8232" y="3474720"/>
            <a:ext cx="1719072" cy="19202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493008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4224528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rriweather"/>
              </a:rPr>
              <a:t>Attach
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977639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3336" y="3474720"/>
            <a:ext cx="1719072" cy="19202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493008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4224528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rriweather"/>
              </a:rPr>
              <a:t>Review
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3977639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8440" y="3474720"/>
            <a:ext cx="1719072" cy="19202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493008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1592" y="4224528"/>
            <a:ext cx="1572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Merriweather"/>
              </a:rPr>
              <a:t>Publish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1  |  Steps 1–3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Get the Meeting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Download or copy the official meeting minutes from the town website. Many towns offer free email subscriptions to receive minutes and agendas (usually as PDFs or MS Word documents).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Open 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558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Start a new chat in ChatGPT.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50207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Paste 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531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Copy and paste the AP-style prompt into ChatGPT. See the next slide for the complete prompt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1  |  The Prompt  (copy &amp; paste this)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98448"/>
            <a:ext cx="11457432" cy="5285232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Rewrite these [DATE] meeting minutes of the [TOWN], [STATE]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[MUNICIPAL BODY] as a news article in the neutral style of an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Associated Press journalist.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Requirements: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Lead with the most newsworthy actions or votes.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Attribute comments clearly.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Summarize discussion concisely.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Include vote counts when available.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Do not editorialize or speculate.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Write for a hyperlocal readership in [TOWN], [STATE].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Then generate: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An SEO-friendly headline (≤109 characters)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A meta description (≤136 characters)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Meeting minutes: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[PASTE TEXT HERE, or attach the file to this prompt]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1  |  Steps 4–6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Attach or Paste the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Paste the full text directly into the prompt, or upload the minutes file as an attachment.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4203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42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Review the Draft Carefully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Paste ChatGPT's work into the Patch CMS. Before publishing: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Verify vote counts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Confirm names and titles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Check quotes against the original minutes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Make sure the lede reflects the most important action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Remove anything that sounds promotional or speculative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32120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532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504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035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Tweak the hed, lede and meta description. Add pull-quotes to make the story yours, and 2–3 recirc links to previous meeting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Bonus: The Agenda Variation  —  The 2-for-1 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Merriweather"/>
              </a:rPr>
              <a:t>You can often squeeze a forward-looking story from a committee's published agenda — before the meeting even happens.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11457432" cy="278892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C05"/>
                </a:solidFill>
                <a:latin typeface="Roboto"/>
              </a:rPr>
              <a:t>How to modify the prompt: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0972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1.  Remove all "Requirements" except: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    Write for a hyperlocal readership in [TOWN], [STATE].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2.  Change:    these [DATE] meeting minutes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To:              this [DATE] meeting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1A1A"/>
                </a:solidFill>
                <a:latin typeface="Merriweather"/>
              </a:rPr>
              <a:t>The AI will create a forward-looking meeting preview. Consider scheduling it to publish the day before or day of the meeting — with an appropriately urgent headline.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WORKFLOW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4C05"/>
                </a:solidFill>
                <a:latin typeface="Roboto"/>
              </a:rPr>
              <a:t>Meeting Transcript  →  News Article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9994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1A1A1A"/>
                </a:solidFill>
                <a:latin typeface="Merriweather"/>
              </a:rPr>
              <a:t>Use when you have audio or video. Results are invariably superior to working from minutes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Get
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3931920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Create
Transcript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931920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22191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1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Export
Transcript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3931920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32704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2704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6712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Open
ChatGPT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931920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Paste
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931920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53728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Fact-
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63072" y="3931920"/>
            <a:ext cx="219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C05"/>
                </a:solidFill>
                <a:latin typeface="Roboto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64240" y="3429000"/>
            <a:ext cx="1591056" cy="196596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64240" y="3447288"/>
            <a:ext cx="159105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8248" y="4178808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Merriweather"/>
              </a:rPr>
              <a:t>Add
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2  |  Steps 1–2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Obtain the Meeting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83664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Look for: livestream recordings, YouTube uploads, Zoom recordings, MP3/MP4 files. Your town may host these on its website or link to third-party providers.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Create a Transcript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364992"/>
            <a:ext cx="4937760" cy="301752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3814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C05"/>
                </a:solidFill>
                <a:latin typeface="Roboto"/>
              </a:rPr>
              <a:t>Option A: Upload 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50208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Merriweather"/>
              </a:rPr>
              <a:t>If you have a standalone audio/video file:
  1. Upload to Otter.ai, TurboScribe, or another service
  2. Wait for transcription to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64992"/>
            <a:ext cx="5486400" cy="301752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3814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C05"/>
                </a:solidFill>
                <a:latin typeface="Roboto"/>
              </a:rPr>
              <a:t>Option B: Record Playback Into Otter.ai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50208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Merriweather"/>
              </a:rPr>
              <a:t>If the meeting is only on your town's website:
  1. Open the meeting on your laptop
  2. Open Otter.ai
  3. Play the audio aloud
  4. Let Otter.ai transcribe in real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2  |  Steps 3–5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Export the 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Export as plain text (.txt) — this format works best with ChatGPT.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33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Open 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79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Start a new chat.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7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Upload the Transcript &amp; Paste 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245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Attach the transcript file to the prompt, then paste the AP-style prompt (full text on next slide). ChatGPT will process both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2  |  The Prompt  (copy &amp; paste this)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98448"/>
            <a:ext cx="11457432" cy="5285232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Rewrite this transcript of the [DATE] meeting of the [TOWN],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[STATE] [MUNICIPAL BODY] as a news article in the neutral style of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an Associated Press journalist.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Requirements: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Identify speakers by name and title when possible.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Remove filler, repetition and off-topic remarks.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Highlight decisions, disagreements and next steps.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Preserve exact meaning of quotes.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Do not invent attribution.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Write for a hyperlocal readership in [TOWN], [STATE].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Then generate: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1) An SEO-friendly headline (≤109 characters)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    2) A meta description (≤136 characters)</a:t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rgbClr val="006018"/>
                </a:solidFill>
                <a:latin typeface="Courier New"/>
              </a:rPr>
              <a:t>Attach the transcript file to this prompt.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Workflow 2  |  Steps 6–7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Fact-Check the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Merriweather"/>
              </a:rPr>
              <a:t>Paste ChatGPT's work into the Patch CMS. Always verify: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Names and titles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Vote counts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Quotes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Timeline of decisions</a:t>
            </a:r>
          </a:p>
          <a:p>
            <a:pPr algn="l"/>
            <a:r>
              <a:rPr sz="1600" b="0" i="0">
                <a:solidFill>
                  <a:srgbClr val="004C05"/>
                </a:solidFill>
                <a:latin typeface="Merriweather"/>
              </a:rPr>
              <a:t>    ✓  Motions and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159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  <a:latin typeface="Merriweather"/>
              </a:rPr>
              <a:t>AI can miss context or confuse speakers during complicated discussions.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502920" cy="50292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646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4C05"/>
                </a:solidFill>
                <a:latin typeface="Roboto"/>
              </a:rPr>
              <a:t>Add Context Before Publishing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76672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  •  Prior meeting history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  •  Budget context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  •  Links to applications or agenda packets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  •  Previous controversies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Merriweather"/>
              </a:rPr>
              <a:t>  •  Public reaction from 'public comment' portions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Tips for Better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6144768"/>
            <a:ext cx="1645920" cy="625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325880"/>
            <a:ext cx="5394960" cy="5257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4C05"/>
                </a:solidFill>
                <a:latin typeface="Roboto"/>
              </a:rPr>
              <a:t>Ask for Follow-Up Rewrites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6018"/>
                </a:solidFill>
                <a:latin typeface="Courier New"/>
              </a:rPr>
              <a:t>  •  "Rewrite with a stronger lede"</a:t>
            </a:r>
          </a:p>
          <a:p>
            <a:pPr algn="l"/>
            <a:r>
              <a:rPr sz="1500" b="0" i="0">
                <a:solidFill>
                  <a:srgbClr val="006018"/>
                </a:solidFill>
                <a:latin typeface="Courier New"/>
              </a:rPr>
              <a:t>  •  "Shorten this by 200 words"</a:t>
            </a:r>
          </a:p>
          <a:p>
            <a:pPr algn="l"/>
            <a:r>
              <a:rPr sz="1500" b="0" i="0">
                <a:solidFill>
                  <a:srgbClr val="006018"/>
                </a:solidFill>
                <a:latin typeface="Courier New"/>
              </a:rPr>
              <a:t>  •  "Focus more on the budget vote"</a:t>
            </a:r>
          </a:p>
          <a:p>
            <a:pPr algn="l"/>
            <a:r>
              <a:rPr sz="1500" b="0" i="0">
                <a:solidFill>
                  <a:srgbClr val="006018"/>
                </a:solidFill>
                <a:latin typeface="Courier New"/>
              </a:rPr>
              <a:t>  •  "Organize chronologically"</a:t>
            </a:r>
          </a:p>
          <a:p>
            <a:pPr algn="l"/>
            <a:r>
              <a:rPr sz="1500" b="0" i="0">
                <a:solidFill>
                  <a:srgbClr val="006018"/>
                </a:solidFill>
                <a:latin typeface="Courier New"/>
              </a:rPr>
              <a:t>  •  "Highlight the major disagreements"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8232" y="1325880"/>
            <a:ext cx="5394960" cy="525780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399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Roboto"/>
              </a:rPr>
              <a:t>Upload Supporting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9659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erriweather"/>
              </a:rPr>
              <a:t>Context and accuracy improve significantly when you also attach: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724912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erriweather"/>
              </a:rPr>
              <a:t>  •  Agendas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Merriweather"/>
              </a:rPr>
              <a:t>  •  Meeting packets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Merriweather"/>
              </a:rPr>
              <a:t>  •  Presentations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Merriweather"/>
              </a:rPr>
              <a:t>  •  Proposed budgets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Merriweather"/>
              </a:rPr>
              <a:t>  •  Prior meeting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892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Merriweather"/>
              </a:rPr>
              <a:t>Identify each document by name inside your prompt.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Roboto"/>
              </a:rPr>
              <a:t>Important Editorial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543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FFFFF"/>
                </a:solidFill>
                <a:latin typeface="Merriweather"/>
              </a:rPr>
              <a:t>ChatGPT is a reporting assistant — not a replacement for editorial judgment.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9445752" cy="3520440"/>
          </a:xfrm>
          <a:prstGeom prst="rect">
            <a:avLst/>
          </a:prstGeom>
          <a:solidFill>
            <a:srgbClr val="00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8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Roboto"/>
              </a:rPr>
              <a:t>Always: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61488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erriweather"/>
              </a:rPr>
              <a:t>  ✓  Verify facts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erriweather"/>
              </a:rPr>
              <a:t>  ✓  Review quotes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erriweather"/>
              </a:rPr>
              <a:t>  ✓  Confirm names and titles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erriweather"/>
              </a:rPr>
              <a:t>  ✓  Read the original source material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erriweather"/>
              </a:rPr>
              <a:t>  ✓  Apply newsroom standards before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13248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erriweather"/>
              </a:rPr>
              <a:t>The final responsibility for accuracy remains with the journalist.</a:t>
            </a:r>
          </a:p>
        </p:txBody>
      </p:sp>
      <p:pic>
        <p:nvPicPr>
          <p:cNvPr id="9" name="Picture 8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5916168"/>
            <a:ext cx="228600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4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4C05"/>
                </a:solidFill>
                <a:latin typeface="Roboto"/>
              </a:rPr>
              <a:t>Now Go Cover Those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5468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A1A1A"/>
                </a:solidFill>
                <a:latin typeface="Merriweather"/>
              </a:rPr>
              <a:t>Local government journalism matters — and with these tools,
you can do it faster, smarter and more consistently.</a:t>
            </a:r>
          </a:p>
        </p:txBody>
      </p:sp>
      <p:pic>
        <p:nvPicPr>
          <p:cNvPr id="7" name="Picture 6" descr="patch_logo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4572000"/>
            <a:ext cx="3657600" cy="1389888"/>
          </a:xfrm>
          <a:prstGeom prst="rect">
            <a:avLst/>
          </a:prstGeom>
        </p:spPr>
      </p:pic>
      <p:pic>
        <p:nvPicPr>
          <p:cNvPr id="8" name="Picture 7" descr="Ptach Media Logo 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60350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